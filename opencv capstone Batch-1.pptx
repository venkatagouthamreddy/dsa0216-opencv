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5" r:id="rId4"/>
    <p:sldId id="273" r:id="rId5"/>
    <p:sldId id="259" r:id="rId6"/>
    <p:sldId id="260" r:id="rId7"/>
    <p:sldId id="274" r:id="rId8"/>
    <p:sldId id="276" r:id="rId9"/>
    <p:sldId id="269" r:id="rId10"/>
    <p:sldId id="275" r:id="rId11"/>
    <p:sldId id="281" r:id="rId12"/>
    <p:sldId id="277" r:id="rId13"/>
    <p:sldId id="261" r:id="rId14"/>
    <p:sldId id="279" r:id="rId15"/>
    <p:sldId id="280" r:id="rId16"/>
    <p:sldId id="278" r:id="rId17"/>
    <p:sldId id="262" r:id="rId18"/>
    <p:sldId id="26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883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F17B6-82D3-4301-B71C-B7F0D8C1BE4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16C39-A4F2-4D29-AB7F-C97AE567F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6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16C39-A4F2-4D29-AB7F-C97AE567F54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252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B8FE-49FF-477E-BEBD-35B605AF1A56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E702-DF6A-4666-89CC-1A37CE446C6A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A551-3998-4954-81BA-8D6C6EDE11C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74A62-C649-4DAF-9BCE-11AB90FA545E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3AFD-E61C-4F16-9A76-003E5C022AE6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7677-1CBB-4863-83F5-AB031A71A9FE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9736-31E7-4C61-BF93-D2E1283461D0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33D4-92BA-4AB4-B7CC-F4730FBD5892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2610-69EC-4A03-B27B-9B94D294D328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D3F5-C180-48E9-9539-E9E335F93291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E1DE-AEFB-41AF-86E7-2EBECD26B544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47A65-480C-44C6-9CB7-0B4522C609DE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705B3F-7885-E14B-189E-41EF93B9D90B}"/>
              </a:ext>
            </a:extLst>
          </p:cNvPr>
          <p:cNvSpPr/>
          <p:nvPr/>
        </p:nvSpPr>
        <p:spPr>
          <a:xfrm>
            <a:off x="1524000" y="3306417"/>
            <a:ext cx="95250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063" y="990600"/>
            <a:ext cx="9105900" cy="2133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Examination of Brain MRI Slices  to Detect  Alzheimer's Disease</a:t>
            </a:r>
            <a:endParaRPr lang="en-GB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1" y="3276600"/>
            <a:ext cx="10096498" cy="112095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DSA0216-Computer Vision with OpenCV for Modern AI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AACA4-0178-F219-FE9C-8F049B7D2BC2}"/>
              </a:ext>
            </a:extLst>
          </p:cNvPr>
          <p:cNvSpPr txBox="1"/>
          <p:nvPr/>
        </p:nvSpPr>
        <p:spPr>
          <a:xfrm>
            <a:off x="685800" y="4953000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itchFamily="18" charset="0"/>
              </a:rPr>
              <a:t>Presented By</a:t>
            </a:r>
          </a:p>
          <a:p>
            <a:r>
              <a:rPr lang="en-GB" sz="2400" dirty="0" err="1">
                <a:latin typeface="Times New Roman" panose="02020603050405020304" pitchFamily="18" charset="0"/>
                <a:cs typeface="Times New Roman" pitchFamily="18" charset="0"/>
              </a:rPr>
              <a:t>A.Harsha</a:t>
            </a:r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 Mukundha(192324070)</a:t>
            </a:r>
            <a:endParaRPr lang="en-GB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GB" sz="2400" dirty="0" err="1">
                <a:latin typeface="Times New Roman" panose="02020603050405020304" pitchFamily="18" charset="0"/>
                <a:cs typeface="Times New Roman" pitchFamily="18" charset="0"/>
              </a:rPr>
              <a:t>S.Ayyappa</a:t>
            </a:r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(192324166)</a:t>
            </a:r>
          </a:p>
          <a:p>
            <a:r>
              <a:rPr lang="en-GB" sz="2400" dirty="0" err="1">
                <a:latin typeface="Times New Roman" panose="02020603050405020304" pitchFamily="18" charset="0"/>
                <a:cs typeface="Times New Roman" pitchFamily="18" charset="0"/>
              </a:rPr>
              <a:t>G.Goutham</a:t>
            </a:r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(192324265)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DF26F-B3DB-F3A3-E1B1-C89A7C98C468}"/>
              </a:ext>
            </a:extLst>
          </p:cNvPr>
          <p:cNvSpPr txBox="1"/>
          <p:nvPr/>
        </p:nvSpPr>
        <p:spPr>
          <a:xfrm>
            <a:off x="8724900" y="4953000"/>
            <a:ext cx="4838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    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Guided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Dr.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Kumaragurubaran </a:t>
            </a:r>
            <a:endParaRPr lang="en-GB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96FD82AA-988C-7869-B682-5892BE71B5A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8" name="Image 3">
            <a:extLst>
              <a:ext uri="{FF2B5EF4-FFF2-40B4-BE49-F238E27FC236}">
                <a16:creationId xmlns:a16="http://schemas.microsoft.com/office/drawing/2014/main" id="{FE799030-D392-8D80-79D8-5336550173F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8229600" cy="868362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11049000" cy="493475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(AD)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severe disorder that gradually destroys memory and cognitive abilities. </a:t>
            </a:r>
          </a:p>
          <a:p>
            <a:pPr algn="just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Alzheimer's disease is a significant contributor to abnormal mental health in older adults. 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is crucial because it allows timely medical intervention, patient care planning, and improvement of quality of life.</a:t>
            </a:r>
          </a:p>
          <a:p>
            <a:pPr algn="just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and addressing Alzheimer's disease (AD) in elderly patients promptly is crucial for preserving their health status. </a:t>
            </a:r>
          </a:p>
          <a:p>
            <a:pPr algn="just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A38931A2-1176-1DF8-4A97-22087472772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10A78B2C-3A6C-16EF-96E6-636113AEB22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17774"/>
            <a:ext cx="10972800" cy="114300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6466BCB0-DA26-3857-9BAD-5803347C170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C1889923-90BC-E653-5ECE-A4E9C0DB9D5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73F982-5702-1D89-392A-A55A2E122C4D}"/>
              </a:ext>
            </a:extLst>
          </p:cNvPr>
          <p:cNvSpPr txBox="1"/>
          <p:nvPr/>
        </p:nvSpPr>
        <p:spPr>
          <a:xfrm>
            <a:off x="696361" y="1321779"/>
            <a:ext cx="10972800" cy="482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nalyze brain MRI slices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identifying structural differences between healthy (control) subjects and patients affected by Alzheimer’s Disease.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MRI images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(noise removal, normalization, resizing, and slice selection) to improve image quality for accurate analysis.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relevant features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MRI slices that represent brain atrophy and tissue changes associated with Alzheimer’s Disease.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classify brain MRI images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into control (normal) and Alzheimer’s Disease categories using image analysis / machine learning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9EC4-2D89-8E8F-C778-C2E5AE3B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BCF7-8DE8-A23C-019A-29A11027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82763"/>
            <a:ext cx="10896600" cy="475615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MRI slices is challenging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because it is time-consuming, and depends heavily on the expertise of radiologists.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early stages of Alzheimer’s Disease, brain changes are very subtle, making it difficult to clearly distinguish affected patients from healthy control subjects.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an automated system that can examine brain MRI slices and accurately classify them as normal (control) or Alzheimer’s Disease.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F51099BF-812D-A2A5-2FAA-891C7CDA83C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7" name="Image 3">
            <a:extLst>
              <a:ext uri="{FF2B5EF4-FFF2-40B4-BE49-F238E27FC236}">
                <a16:creationId xmlns:a16="http://schemas.microsoft.com/office/drawing/2014/main" id="{50EDD43D-9099-E180-7A82-0F1B21480A8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3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10972800" cy="1143000"/>
          </a:xfrm>
        </p:spPr>
        <p:txBody>
          <a:bodyPr>
            <a:normAutofit/>
          </a:bodyPr>
          <a:lstStyle/>
          <a:p>
            <a:r>
              <a:rPr lang="en-GB" sz="4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94FA92B6-60DE-78B5-F762-E59EF9186F6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D4F50DA-5588-D32F-AE17-7AC535E581D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977F212B-0BB6-400F-5A9F-FA1F8B806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958556"/>
              </p:ext>
            </p:extLst>
          </p:nvPr>
        </p:nvGraphicFramePr>
        <p:xfrm>
          <a:off x="304800" y="1356360"/>
          <a:ext cx="11710987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937">
                  <a:extLst>
                    <a:ext uri="{9D8B030D-6E8A-4147-A177-3AD203B41FA5}">
                      <a16:colId xmlns:a16="http://schemas.microsoft.com/office/drawing/2014/main" val="1712055391"/>
                    </a:ext>
                  </a:extLst>
                </a:gridCol>
                <a:gridCol w="2925663">
                  <a:extLst>
                    <a:ext uri="{9D8B030D-6E8A-4147-A177-3AD203B41FA5}">
                      <a16:colId xmlns:a16="http://schemas.microsoft.com/office/drawing/2014/main" val="3471493232"/>
                    </a:ext>
                  </a:extLst>
                </a:gridCol>
                <a:gridCol w="2287162">
                  <a:extLst>
                    <a:ext uri="{9D8B030D-6E8A-4147-A177-3AD203B41FA5}">
                      <a16:colId xmlns:a16="http://schemas.microsoft.com/office/drawing/2014/main" val="2635859251"/>
                    </a:ext>
                  </a:extLst>
                </a:gridCol>
                <a:gridCol w="2702164">
                  <a:extLst>
                    <a:ext uri="{9D8B030D-6E8A-4147-A177-3AD203B41FA5}">
                      <a16:colId xmlns:a16="http://schemas.microsoft.com/office/drawing/2014/main" val="4071586444"/>
                    </a:ext>
                  </a:extLst>
                </a:gridCol>
                <a:gridCol w="3064061">
                  <a:extLst>
                    <a:ext uri="{9D8B030D-6E8A-4147-A177-3AD203B41FA5}">
                      <a16:colId xmlns:a16="http://schemas.microsoft.com/office/drawing/2014/main" val="2058717648"/>
                    </a:ext>
                  </a:extLst>
                </a:gridCol>
              </a:tblGrid>
              <a:tr h="313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004550"/>
                  </a:ext>
                </a:extLst>
              </a:tr>
              <a:tr h="86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MADGAN: Unsupervised Medical Anomaly Detection GAN Using Multiple Adjacent Brain MRI Slice Reconstruction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MRI anomalies using GAN-based slice reconstruction.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Works without labeled data (unsupervised) • Detects subtle MRI abnormalities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Low accuracy for early AD/MCI • Limited dataset reduces robustness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821544"/>
                  </a:ext>
                </a:extLst>
              </a:tr>
              <a:tr h="805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Sequence Modelling for Alzheimer’s Disease Detection Using MRI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 Alzheimer’s by learning MRI slice sequences.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Combines CNN + sequence modeling • Captures spatial relationships across 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computational cost . Moderate accuracy compared to newer models •.Sensitive to MRI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943438"/>
                  </a:ext>
                </a:extLst>
              </a:tr>
              <a:tr h="877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Alzheimer’s Disease Diagnosis With Multiview-Slice Attention and 3D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AD diagnosis using multi-view attention and 3D CNN features.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Combines 2D slice info + 3D volume features • Attention mechanism highlights key brain regions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Very complex architecture  Requires strong GPU resources  Time-consuming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978952"/>
                  </a:ext>
                </a:extLst>
              </a:tr>
              <a:tr h="731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 Framework for Early Diagnosis of Alzheimer’s Disease on MRI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detect early Alzheimer’s from MRI images.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Effective for early AD detection • Uses augmentation to avoid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Limited generalization to multi-site datasets • Still prone to overfitting on small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92662"/>
                  </a:ext>
                </a:extLst>
              </a:tr>
              <a:tr h="898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Explainable AI Model for Early Alzheimer’s Diagnosis Using Structural MRI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accurate and explainable early Alzheimer’s prediction using MRI.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Provides visual explanations (XAI) • Hybrid deep + ML model increases accuracy • More clinician-friendly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Explainability maps not always clear • Slightly lower accuracy vs pure deep learning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5472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078"/>
            <a:ext cx="10972800" cy="114300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90B31-DE42-38C7-E3C0-D87A9D7B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436688"/>
            <a:ext cx="9067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118BBF-8434-886D-0558-62F4D442D25C}"/>
              </a:ext>
            </a:extLst>
          </p:cNvPr>
          <p:cNvSpPr txBox="1"/>
          <p:nvPr/>
        </p:nvSpPr>
        <p:spPr>
          <a:xfrm>
            <a:off x="3200400" y="6000869"/>
            <a:ext cx="6096000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indent="-182880" algn="ctr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  <a:tab pos="228600" algn="l"/>
                <a:tab pos="182880" algn="l"/>
              </a:tabLst>
            </a:pPr>
            <a:r>
              <a:rPr lang="en-US" sz="1800" b="1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Fig. 1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classify MRI into healthy/AD class</a:t>
            </a:r>
            <a:endParaRPr lang="en-IN" sz="20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392C9AF6-905D-0784-1C34-229AAFF0B5E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7" name="Image 3">
            <a:extLst>
              <a:ext uri="{FF2B5EF4-FFF2-40B4-BE49-F238E27FC236}">
                <a16:creationId xmlns:a16="http://schemas.microsoft.com/office/drawing/2014/main" id="{7EA436CC-C127-B2ED-63E1-380B7D5A561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3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FFBB-EBB8-3236-3819-4C23C1CA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9296400" cy="1143000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Module-1: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MRI Slice Preprocessing </a:t>
            </a:r>
            <a:r>
              <a:rPr lang="en-IN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B33E-B601-18F4-BB19-710C2442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0201"/>
            <a:ext cx="11363325" cy="5105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brain images are gathered from available medical imaging repository.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both Alzheimer’s and healthy control samples.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brain MRI slices are standardized to a fixed resolution.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helps reduce noise and variations across subjects.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Deep-Feature Extraction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DL Model is used to automatically extract hierarchical features.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SoftMax classifier produces initial class probabilities.</a:t>
            </a:r>
          </a:p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7563628E-E1A8-C714-E6E3-DEFE8F4B657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6F88B5C6-9550-5B4C-27E2-EBBBFAA7A72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63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90034-5B57-E2F8-2A61-33977A7DB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5104"/>
            <a:ext cx="11439525" cy="53204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Fused Features (FF)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features from different network layers or models are combined/fused.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classification performance compared to using a single feature source.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0BA72DC5-507B-2AD3-3FCB-8DE38635615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7F2D3B7-98F8-D55F-240E-8D1613465C2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CA9D96-63D3-AE04-5514-42A7C4FB4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90" y="3263096"/>
            <a:ext cx="2590800" cy="2209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55026C-C0EA-43BA-1920-5BDC1872F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494" y="3290272"/>
            <a:ext cx="2590800" cy="2209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9C26E-0F1D-7C1E-DF53-FC7D34EB3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708" y="3242204"/>
            <a:ext cx="2590801" cy="2236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0FC6CD-F0BE-15C1-6B32-F69245242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5923" y="3241885"/>
            <a:ext cx="2667000" cy="2258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DFEE9-10A0-D18F-0196-640B0152843B}"/>
              </a:ext>
            </a:extLst>
          </p:cNvPr>
          <p:cNvSpPr txBox="1"/>
          <p:nvPr/>
        </p:nvSpPr>
        <p:spPr>
          <a:xfrm>
            <a:off x="1223963" y="554662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(a)CL1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46C33-E19E-8CBE-5C76-06FD95CAEF04}"/>
              </a:ext>
            </a:extLst>
          </p:cNvPr>
          <p:cNvSpPr txBox="1"/>
          <p:nvPr/>
        </p:nvSpPr>
        <p:spPr>
          <a:xfrm>
            <a:off x="4079081" y="554662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(b)CL2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0E8521-51D0-DF4A-EFA0-7251C88C9679}"/>
              </a:ext>
            </a:extLst>
          </p:cNvPr>
          <p:cNvSpPr txBox="1"/>
          <p:nvPr/>
        </p:nvSpPr>
        <p:spPr>
          <a:xfrm>
            <a:off x="7144940" y="555575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(c)CL3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17044E-10CD-41DF-03D9-4BED7207CB62}"/>
              </a:ext>
            </a:extLst>
          </p:cNvPr>
          <p:cNvSpPr txBox="1"/>
          <p:nvPr/>
        </p:nvSpPr>
        <p:spPr>
          <a:xfrm>
            <a:off x="10152458" y="554662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(d)CL4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C1FD57-E5CF-9E8D-6C93-6B0FB6BC29F9}"/>
              </a:ext>
            </a:extLst>
          </p:cNvPr>
          <p:cNvSpPr txBox="1"/>
          <p:nvPr/>
        </p:nvSpPr>
        <p:spPr>
          <a:xfrm>
            <a:off x="3932165" y="6082544"/>
            <a:ext cx="533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Result of different CL for MN1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55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755BE1-5EE6-F4F7-0806-9E88E948C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58892"/>
              </p:ext>
            </p:extLst>
          </p:nvPr>
        </p:nvGraphicFramePr>
        <p:xfrm>
          <a:off x="2819398" y="1552690"/>
          <a:ext cx="5943602" cy="1098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6692">
                  <a:extLst>
                    <a:ext uri="{9D8B030D-6E8A-4147-A177-3AD203B41FA5}">
                      <a16:colId xmlns:a16="http://schemas.microsoft.com/office/drawing/2014/main" val="581975743"/>
                    </a:ext>
                  </a:extLst>
                </a:gridCol>
                <a:gridCol w="1186146">
                  <a:extLst>
                    <a:ext uri="{9D8B030D-6E8A-4147-A177-3AD203B41FA5}">
                      <a16:colId xmlns:a16="http://schemas.microsoft.com/office/drawing/2014/main" val="1243914296"/>
                    </a:ext>
                  </a:extLst>
                </a:gridCol>
                <a:gridCol w="1186146">
                  <a:extLst>
                    <a:ext uri="{9D8B030D-6E8A-4147-A177-3AD203B41FA5}">
                      <a16:colId xmlns:a16="http://schemas.microsoft.com/office/drawing/2014/main" val="2136284476"/>
                    </a:ext>
                  </a:extLst>
                </a:gridCol>
                <a:gridCol w="1343446">
                  <a:extLst>
                    <a:ext uri="{9D8B030D-6E8A-4147-A177-3AD203B41FA5}">
                      <a16:colId xmlns:a16="http://schemas.microsoft.com/office/drawing/2014/main" val="2601471161"/>
                    </a:ext>
                  </a:extLst>
                </a:gridCol>
                <a:gridCol w="1031172">
                  <a:extLst>
                    <a:ext uri="{9D8B030D-6E8A-4147-A177-3AD203B41FA5}">
                      <a16:colId xmlns:a16="http://schemas.microsoft.com/office/drawing/2014/main" val="2481904582"/>
                    </a:ext>
                  </a:extLst>
                </a:gridCol>
              </a:tblGrid>
              <a:tr h="259370">
                <a:tc rowSpan="2"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IN" sz="1800" spc="-5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 MRI-slices</a:t>
                      </a:r>
                      <a:endParaRPr lang="en-IN" sz="1800" spc="-5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754093"/>
                  </a:ext>
                </a:extLst>
              </a:tr>
              <a:tr h="2888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01944"/>
                  </a:ext>
                </a:extLst>
              </a:tr>
              <a:tr h="273021"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CD</a:t>
                      </a: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26375"/>
                  </a:ext>
                </a:extLst>
              </a:tr>
              <a:tr h="273021"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</a:t>
                      </a:r>
                      <a:endParaRPr lang="en-IN" sz="1800" spc="-5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02338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61C1C7B-CCD4-BC0C-2BA0-0A17CB68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145394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3D6835-20B7-EFB1-3129-2B436FE43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3145394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02EA87-E5EE-A8B9-FA2D-4F48EED4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4759783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74A400-8B37-5025-34C5-2A864C9A80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4759783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923FE2-AFB5-35AD-F823-3BD240C9F8A4}"/>
              </a:ext>
            </a:extLst>
          </p:cNvPr>
          <p:cNvSpPr txBox="1"/>
          <p:nvPr/>
        </p:nvSpPr>
        <p:spPr>
          <a:xfrm>
            <a:off x="3082884" y="3478996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9A3FD-595E-963F-2804-CE02399D9D52}"/>
              </a:ext>
            </a:extLst>
          </p:cNvPr>
          <p:cNvSpPr txBox="1"/>
          <p:nvPr/>
        </p:nvSpPr>
        <p:spPr>
          <a:xfrm>
            <a:off x="3276600" y="504301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96078C-5BF1-1787-6BC8-8F1A5F6E08FE}"/>
              </a:ext>
            </a:extLst>
          </p:cNvPr>
          <p:cNvSpPr txBox="1"/>
          <p:nvPr/>
        </p:nvSpPr>
        <p:spPr>
          <a:xfrm>
            <a:off x="2667000" y="5902783"/>
            <a:ext cx="6096000" cy="69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indent="-182880" algn="ctr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  <a:tab pos="228600" algn="l"/>
                <a:tab pos="182880" algn="l"/>
              </a:tabLst>
            </a:pPr>
            <a:endParaRPr lang="en-US" sz="1800" b="1" spc="-5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70510" indent="-182880" algn="ctr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  <a:tab pos="228600" algn="l"/>
                <a:tab pos="182880" algn="l"/>
              </a:tabLst>
            </a:pPr>
            <a:r>
              <a:rPr lang="en-US" sz="1800" b="1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3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 Sample images from the MRI-database</a:t>
            </a:r>
            <a:endParaRPr lang="en-IN" sz="2400" spc="-5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45457EB1-9C49-AA2A-E796-4BF0B3289437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9A943DCC-BAD4-F069-8652-CD04A50DA0AE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D951B6-1A92-6430-5A39-B7347F5EB4CF}"/>
              </a:ext>
            </a:extLst>
          </p:cNvPr>
          <p:cNvSpPr txBox="1"/>
          <p:nvPr/>
        </p:nvSpPr>
        <p:spPr>
          <a:xfrm>
            <a:off x="4343400" y="233138"/>
            <a:ext cx="4953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7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90EF-AC1B-87A3-5F99-39C06B65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12" y="136133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Module-2: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Alzheimer’s Disease Detection and Classification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BACC-57BD-40DB-D199-7EF9B5202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61" y="1524000"/>
            <a:ext cx="11125199" cy="505456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Framework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binary classifier is trained using Fused Features.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whether an MRI belongs to Alzheimer’s or Control class.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3-Fold Cross-Validation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three equal subsets.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occur in three rounds, each time using a different subset for testing.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and reduces overfitting risks.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1A0C7CA-664D-C73B-7B54-454FDB87D3A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89DCD673-4165-589E-4F1B-7FCE8B1ECD3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4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9E525-5D10-D52A-89D5-2374115E0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295400"/>
            <a:ext cx="5013854" cy="52879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6C84FB-6CAF-D829-710C-A4C4B333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37" y="16565"/>
            <a:ext cx="10972800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FRAMEWORK OF CNN”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D8E4E7-AD2F-7EA9-72FB-975A8F0352A1}"/>
                  </a:ext>
                </a:extLst>
              </p:cNvPr>
              <p:cNvSpPr txBox="1"/>
              <p:nvPr/>
            </p:nvSpPr>
            <p:spPr>
              <a:xfrm>
                <a:off x="609600" y="1524000"/>
                <a:ext cx="3048000" cy="4873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cs typeface="+mj-cs"/>
                  </a:rPr>
                  <a:t>1️⃣ Image as Matrix</a:t>
                </a:r>
              </a:p>
              <a:p>
                <a:r>
                  <a:rPr lang="en-IN" sz="1400" dirty="0">
                    <a:cs typeface="+mj-cs"/>
                  </a:rPr>
                  <a:t>MRI image is converted into numerical form: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cs typeface="+mj-cs"/>
                        </a:rPr>
                        <m:t>𝐼</m:t>
                      </m:r>
                      <m:r>
                        <a:rPr lang="en-IN" sz="1400">
                          <a:cs typeface="+mj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400" i="1">
                                  <a:cs typeface="+mj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30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35</m:t>
                                </m:r>
                              </m:e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ar-AE" sz="1400">
                                    <a:cs typeface="+mj-cs"/>
                                  </a:rPr>
                                  <m:t>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br>
                  <a:rPr lang="ar-AE" sz="1400" dirty="0">
                    <a:cs typeface="+mj-cs"/>
                  </a:rPr>
                </a:br>
                <a:endParaRPr lang="ar-AE" sz="1400" dirty="0">
                  <a:cs typeface="+mj-cs"/>
                </a:endParaRPr>
              </a:p>
              <a:p>
                <a:r>
                  <a:rPr lang="en-IN" sz="1400" b="1" dirty="0">
                    <a:cs typeface="+mj-cs"/>
                  </a:rPr>
                  <a:t>2️⃣ Convolution (Feature Extraction)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cs typeface="+mj-cs"/>
                        </a:rPr>
                        <m:t>𝐹</m:t>
                      </m:r>
                      <m:d>
                        <m:dPr>
                          <m:sepChr m:val=","/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 i="1">
                              <a:cs typeface="+mj-cs"/>
                            </a:rPr>
                            <m:t>𝑖</m:t>
                          </m:r>
                        </m:e>
                        <m:e>
                          <m:r>
                            <a:rPr lang="ar-AE" sz="1400" i="1">
                              <a:cs typeface="+mj-cs"/>
                            </a:rPr>
                            <m:t>𝑗</m:t>
                          </m:r>
                        </m:e>
                      </m:d>
                      <m:r>
                        <a:rPr lang="ar-AE" sz="1400">
                          <a:cs typeface="+mj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1400" i="1">
                              <a:cs typeface="+mj-cs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400" i="1">
                              <a:cs typeface="+mj-cs"/>
                            </a:rPr>
                            <m:t>𝐼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 i="1">
                              <a:cs typeface="+mj-cs"/>
                            </a:rPr>
                            <m:t>𝑖</m:t>
                          </m:r>
                        </m:e>
                        <m:e>
                          <m:r>
                            <a:rPr lang="ar-AE" sz="1400">
                              <a:cs typeface="+mj-cs"/>
                            </a:rPr>
                            <m:t>+</m:t>
                          </m:r>
                          <m:r>
                            <a:rPr lang="ar-AE" sz="1400" i="1">
                              <a:cs typeface="+mj-cs"/>
                            </a:rPr>
                            <m:t>𝑚𝑗</m:t>
                          </m:r>
                          <m:r>
                            <a:rPr lang="ar-AE" sz="1400">
                              <a:cs typeface="+mj-cs"/>
                            </a:rPr>
                            <m:t>+</m:t>
                          </m:r>
                          <m:r>
                            <a:rPr lang="ar-AE" sz="1400" i="1">
                              <a:cs typeface="+mj-cs"/>
                            </a:rPr>
                            <m:t>𝑛</m:t>
                          </m:r>
                        </m:e>
                      </m:d>
                      <m:r>
                        <a:rPr lang="ar-AE" sz="1400">
                          <a:cs typeface="+mj-cs"/>
                        </a:rPr>
                        <m:t>⋅</m:t>
                      </m:r>
                      <m:r>
                        <a:rPr lang="ar-AE" sz="1400" i="1">
                          <a:cs typeface="+mj-cs"/>
                        </a:rPr>
                        <m:t>𝐾</m:t>
                      </m:r>
                      <m:d>
                        <m:dPr>
                          <m:sepChr m:val=","/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 i="1">
                              <a:cs typeface="+mj-cs"/>
                            </a:rPr>
                            <m:t>𝑚</m:t>
                          </m:r>
                        </m:e>
                        <m:e>
                          <m:r>
                            <a:rPr lang="ar-AE" sz="1400" i="1">
                              <a:cs typeface="+mj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r>
                  <a:rPr lang="en-IN" sz="1400" dirty="0">
                    <a:cs typeface="+mj-cs"/>
                  </a:rPr>
                  <a:t>Example: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1400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>
                              <a:cs typeface="+mj-cs"/>
                            </a:rPr>
                            <m:t>5</m:t>
                          </m:r>
                          <m:r>
                            <a:rPr lang="ar-AE" sz="1400">
                              <a:cs typeface="+mj-cs"/>
                            </a:rPr>
                            <m:t>×</m:t>
                          </m:r>
                          <m:r>
                            <a:rPr lang="ar-AE" sz="1400">
                              <a:cs typeface="+mj-cs"/>
                            </a:rPr>
                            <m:t>1</m:t>
                          </m:r>
                        </m:e>
                      </m:d>
                      <m:r>
                        <a:rPr lang="ar-AE" sz="1400">
                          <a:cs typeface="+mj-cs"/>
                        </a:rPr>
                        <m:t>+</m:t>
                      </m:r>
                      <m:d>
                        <m:dPr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>
                              <a:cs typeface="+mj-cs"/>
                            </a:rPr>
                            <m:t>10</m:t>
                          </m:r>
                          <m:r>
                            <a:rPr lang="ar-AE" sz="1400">
                              <a:cs typeface="+mj-cs"/>
                            </a:rPr>
                            <m:t>×</m:t>
                          </m:r>
                          <m:r>
                            <a:rPr lang="ar-AE" sz="1400">
                              <a:cs typeface="+mj-cs"/>
                            </a:rPr>
                            <m:t>0</m:t>
                          </m:r>
                        </m:e>
                      </m:d>
                      <m:r>
                        <a:rPr lang="ar-AE" sz="1400">
                          <a:cs typeface="+mj-cs"/>
                        </a:rPr>
                        <m:t>+</m:t>
                      </m:r>
                      <m:d>
                        <m:dPr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>
                              <a:cs typeface="+mj-cs"/>
                            </a:rPr>
                            <m:t>20</m:t>
                          </m:r>
                          <m:r>
                            <a:rPr lang="ar-AE" sz="1400">
                              <a:cs typeface="+mj-cs"/>
                            </a:rPr>
                            <m:t>×</m:t>
                          </m:r>
                          <m:r>
                            <a:rPr lang="ar-AE" sz="1400">
                              <a:cs typeface="+mj-cs"/>
                            </a:rPr>
                            <m:t>0</m:t>
                          </m:r>
                        </m:e>
                      </m:d>
                      <m:r>
                        <a:rPr lang="ar-AE" sz="1400">
                          <a:cs typeface="+mj-cs"/>
                        </a:rPr>
                        <m:t>+</m:t>
                      </m:r>
                      <m:d>
                        <m:dPr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>
                              <a:cs typeface="+mj-cs"/>
                            </a:rPr>
                            <m:t>25</m:t>
                          </m:r>
                          <m:r>
                            <a:rPr lang="ar-AE" sz="1400">
                              <a:cs typeface="+mj-cs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400" i="1"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a:rPr lang="ar-AE" sz="1400">
                                  <a:cs typeface="+mj-cs"/>
                                </a:rPr>
                                <m:t>−</m:t>
                              </m:r>
                              <m:r>
                                <a:rPr lang="ar-AE" sz="1400">
                                  <a:cs typeface="+mj-cs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sz="1400">
                          <a:cs typeface="+mj-cs"/>
                        </a:rPr>
                        <m:t>=−</m:t>
                      </m:r>
                      <m:r>
                        <a:rPr lang="ar-AE" sz="1400">
                          <a:cs typeface="+mj-cs"/>
                        </a:rPr>
                        <m:t>20</m:t>
                      </m:r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br>
                  <a:rPr lang="ar-AE" sz="1400" dirty="0">
                    <a:cs typeface="+mj-cs"/>
                  </a:rPr>
                </a:br>
                <a:endParaRPr lang="ar-AE" sz="1400" dirty="0">
                  <a:cs typeface="+mj-cs"/>
                </a:endParaRPr>
              </a:p>
              <a:p>
                <a:r>
                  <a:rPr lang="en-IN" sz="1400" b="1" dirty="0">
                    <a:cs typeface="+mj-cs"/>
                  </a:rPr>
                  <a:t>3️⃣ </a:t>
                </a:r>
                <a:r>
                  <a:rPr lang="en-IN" sz="1400" b="1" dirty="0" err="1">
                    <a:cs typeface="+mj-cs"/>
                  </a:rPr>
                  <a:t>ReLU</a:t>
                </a:r>
                <a:r>
                  <a:rPr lang="en-IN" sz="1400" b="1" dirty="0">
                    <a:cs typeface="+mj-cs"/>
                  </a:rPr>
                  <a:t> Activation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cs typeface="+mj-cs"/>
                        </a:rPr>
                        <m:t>𝑓</m:t>
                      </m:r>
                      <m:d>
                        <m:dPr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 i="1">
                              <a:cs typeface="+mj-cs"/>
                            </a:rPr>
                            <m:t>𝑥</m:t>
                          </m:r>
                        </m:e>
                      </m:d>
                      <m:r>
                        <a:rPr lang="ar-AE" sz="1400">
                          <a:cs typeface="+mj-cs"/>
                        </a:rPr>
                        <m:t>=</m:t>
                      </m:r>
                      <m:r>
                        <a:rPr lang="ar-AE" sz="1400" i="1">
                          <a:cs typeface="+mj-cs"/>
                        </a:rPr>
                        <m:t>𝑚𝑎𝑥</m:t>
                      </m:r>
                      <m:d>
                        <m:dPr>
                          <m:sepChr m:val=","/>
                          <m:ctrlPr>
                            <a:rPr lang="ar-AE" sz="1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1400">
                              <a:cs typeface="+mj-cs"/>
                            </a:rPr>
                            <m:t>0</m:t>
                          </m:r>
                        </m:e>
                        <m:e>
                          <m:r>
                            <a:rPr lang="ar-AE" sz="1400" i="1">
                              <a:cs typeface="+mj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r>
                  <a:rPr lang="en-IN" sz="1400" dirty="0">
                    <a:cs typeface="+mj-cs"/>
                  </a:rPr>
                  <a:t>If x = -20 → Output = 0</a:t>
                </a:r>
              </a:p>
              <a:p>
                <a:br>
                  <a:rPr lang="en-IN" sz="1400" dirty="0">
                    <a:cs typeface="+mj-cs"/>
                  </a:rPr>
                </a:br>
                <a:endParaRPr lang="en-IN" sz="1400" dirty="0">
                  <a:cs typeface="+mj-cs"/>
                </a:endParaRPr>
              </a:p>
              <a:p>
                <a:endParaRPr lang="en-IN" sz="1400" dirty="0">
                  <a:cs typeface="+mj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D8E4E7-AD2F-7EA9-72FB-975A8F035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24000"/>
                <a:ext cx="3048000" cy="4873514"/>
              </a:xfrm>
              <a:prstGeom prst="rect">
                <a:avLst/>
              </a:prstGeom>
              <a:blipFill>
                <a:blip r:embed="rId4"/>
                <a:stretch>
                  <a:fillRect l="-600" t="-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AE24B-9B86-0582-4920-9F148417E90C}"/>
                  </a:ext>
                </a:extLst>
              </p:cNvPr>
              <p:cNvSpPr txBox="1"/>
              <p:nvPr/>
            </p:nvSpPr>
            <p:spPr>
              <a:xfrm>
                <a:off x="3848101" y="1512562"/>
                <a:ext cx="3124200" cy="5345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4️⃣ Fully Connected Layer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IN" sz="1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sz="1400" dirty="0"/>
              </a:p>
              <a:p>
                <a:r>
                  <a:rPr lang="en-IN" sz="1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1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ar-AE" sz="1400" dirty="0"/>
              </a:p>
              <a:p>
                <a:endParaRPr lang="en-IN" sz="1400" b="1" dirty="0">
                  <a:cs typeface="+mj-cs"/>
                </a:endParaRPr>
              </a:p>
              <a:p>
                <a:endParaRPr lang="en-IN" sz="1400" b="1" dirty="0">
                  <a:cs typeface="+mj-cs"/>
                </a:endParaRPr>
              </a:p>
              <a:p>
                <a:r>
                  <a:rPr lang="en-IN" sz="1400" b="1" dirty="0">
                    <a:cs typeface="+mj-cs"/>
                  </a:rPr>
                  <a:t>5️⃣ </a:t>
                </a:r>
                <a:r>
                  <a:rPr lang="en-IN" sz="1400" b="1" dirty="0" err="1">
                    <a:cs typeface="+mj-cs"/>
                  </a:rPr>
                  <a:t>Softmax</a:t>
                </a:r>
                <a:r>
                  <a:rPr lang="en-IN" sz="1400" b="1" dirty="0">
                    <a:cs typeface="+mj-cs"/>
                  </a:rPr>
                  <a:t> (Probability)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  <m:t>𝑃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  <m:t>𝑖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  <a:cs typeface="+mj-cs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  <a:cs typeface="+mj-cs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  <a:cs typeface="+mj-cs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  <a:cs typeface="+mj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  <a:cs typeface="+mj-cs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ar-AE" sz="1400" i="1">
                                          <a:latin typeface="Cambria Math" panose="02040503050406030204" pitchFamily="18" charset="0"/>
                                          <a:cs typeface="+mj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400" i="1">
                                          <a:latin typeface="Cambria Math" panose="02040503050406030204" pitchFamily="18" charset="0"/>
                                          <a:cs typeface="+mj-cs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ar-AE" sz="1400" i="1">
                                          <a:latin typeface="Cambria Math" panose="02040503050406030204" pitchFamily="18" charset="0"/>
                                          <a:cs typeface="+mj-cs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r>
                  <a:rPr lang="en-IN" sz="1400" dirty="0">
                    <a:cs typeface="+mj-cs"/>
                  </a:rPr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  <m:t>𝑃</m:t>
                          </m:r>
                        </m:e>
                        <m:sub>
                          <m:r>
                            <a:rPr lang="ar-AE" sz="1400">
                              <a:latin typeface="Cambria Math" panose="02040503050406030204" pitchFamily="18" charset="0"/>
                              <a:cs typeface="+mj-cs"/>
                            </a:rPr>
                            <m:t>1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0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.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73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, </m:t>
                      </m:r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  <m:t>𝑃</m:t>
                          </m:r>
                        </m:e>
                        <m:sub>
                          <m:r>
                            <a:rPr lang="ar-AE" sz="1400">
                              <a:latin typeface="Cambria Math" panose="02040503050406030204" pitchFamily="18" charset="0"/>
                              <a:cs typeface="+mj-cs"/>
                            </a:rPr>
                            <m:t>2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0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.</m:t>
                      </m:r>
                      <m:r>
                        <a:rPr lang="ar-AE" sz="1400">
                          <a:latin typeface="Cambria Math" panose="02040503050406030204" pitchFamily="18" charset="0"/>
                          <a:cs typeface="+mj-cs"/>
                        </a:rPr>
                        <m:t>27</m:t>
                      </m:r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r>
                  <a:rPr lang="en-IN" sz="1400" dirty="0">
                    <a:cs typeface="+mj-cs"/>
                  </a:rPr>
                  <a:t>Highest probability → Final Class</a:t>
                </a:r>
              </a:p>
              <a:p>
                <a:br>
                  <a:rPr lang="en-IN" sz="1400" dirty="0">
                    <a:cs typeface="+mj-cs"/>
                  </a:rPr>
                </a:br>
                <a:endParaRPr lang="en-IN" sz="1400" dirty="0">
                  <a:cs typeface="+mj-cs"/>
                </a:endParaRPr>
              </a:p>
              <a:p>
                <a:r>
                  <a:rPr lang="en-IN" sz="1400" b="1" dirty="0">
                    <a:cs typeface="+mj-cs"/>
                  </a:rPr>
                  <a:t>6️⃣ Loss Function (Training)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  <a:cs typeface="+mj-cs"/>
                        </a:rPr>
                        <m:t>𝐿𝑜𝑠𝑠</m:t>
                      </m:r>
                      <m:r>
                        <a:rPr lang="en-IN" sz="1400">
                          <a:latin typeface="Cambria Math" panose="02040503050406030204" pitchFamily="18" charset="0"/>
                          <a:cs typeface="+mj-cs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IN" sz="1400">
                          <a:latin typeface="Cambria Math" panose="02040503050406030204" pitchFamily="18" charset="0"/>
                          <a:cs typeface="+mj-cs"/>
                        </a:rPr>
                        <m:t>log</m:t>
                      </m:r>
                      <m:r>
                        <a:rPr lang="en-IN" sz="1400">
                          <a:latin typeface="Cambria Math" panose="02040503050406030204" pitchFamily="18" charset="0"/>
                          <a:cs typeface="+mj-cs"/>
                        </a:rPr>
                        <m:t>⁡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  <a:cs typeface="+mj-cs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cs typeface="+mj-cs"/>
                </a:endParaRPr>
              </a:p>
              <a:p>
                <a:pPr/>
                <a:br>
                  <a:rPr lang="ar-AE" sz="1400" dirty="0">
                    <a:cs typeface="+mj-cs"/>
                  </a:rPr>
                </a:br>
                <a:endParaRPr lang="ar-AE" sz="1400" dirty="0">
                  <a:cs typeface="+mj-cs"/>
                </a:endParaRPr>
              </a:p>
              <a:p>
                <a:r>
                  <a:rPr lang="en-IN" sz="1400" b="1" dirty="0">
                    <a:cs typeface="+mj-cs"/>
                  </a:rPr>
                  <a:t>7️⃣ Weight Update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  <a:cs typeface="+mj-cs"/>
                        </a:rPr>
                        <m:t>𝑊</m:t>
                      </m:r>
                      <m:r>
                        <a:rPr lang="en-IN" sz="140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IN" sz="1400" i="1">
                          <a:latin typeface="Cambria Math" panose="02040503050406030204" pitchFamily="18" charset="0"/>
                          <a:cs typeface="+mj-cs"/>
                        </a:rPr>
                        <m:t>𝑊</m:t>
                      </m:r>
                      <m:r>
                        <a:rPr lang="en-IN" sz="140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a:rPr lang="en-IN" sz="1400" i="1">
                          <a:latin typeface="Cambria Math" panose="02040503050406030204" pitchFamily="18" charset="0"/>
                          <a:cs typeface="+mj-cs"/>
                        </a:rPr>
                        <m:t>𝜂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fPr>
                        <m:num>
                          <m:r>
                            <a:rPr lang="ar-AE" sz="1400">
                              <a:latin typeface="Cambria Math" panose="02040503050406030204" pitchFamily="18" charset="0"/>
                              <a:cs typeface="+mj-cs"/>
                            </a:rPr>
                            <m:t>𝜕</m:t>
                          </m:r>
                          <m: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  <m:t>𝐿𝑜𝑠𝑠</m:t>
                          </m:r>
                        </m:num>
                        <m:den>
                          <m:r>
                            <a:rPr lang="ar-AE" sz="1400">
                              <a:latin typeface="Cambria Math" panose="02040503050406030204" pitchFamily="18" charset="0"/>
                              <a:cs typeface="+mj-cs"/>
                            </a:rPr>
                            <m:t>𝜕</m:t>
                          </m:r>
                          <m:r>
                            <a:rPr lang="ar-AE" sz="1400" i="1">
                              <a:latin typeface="Cambria Math" panose="02040503050406030204" pitchFamily="18" charset="0"/>
                              <a:cs typeface="+mj-cs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ar-AE" sz="1400" dirty="0">
                  <a:cs typeface="+mj-cs"/>
                </a:endParaRPr>
              </a:p>
              <a:p>
                <a:endParaRPr lang="en-IN" sz="1400" dirty="0">
                  <a:cs typeface="+mj-cs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AE24B-9B86-0582-4920-9F148417E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101" y="1512562"/>
                <a:ext cx="3124200" cy="5345438"/>
              </a:xfrm>
              <a:prstGeom prst="rect">
                <a:avLst/>
              </a:prstGeom>
              <a:blipFill>
                <a:blip r:embed="rId5"/>
                <a:stretch>
                  <a:fillRect l="-585" t="-3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6">
            <a:extLst>
              <a:ext uri="{FF2B5EF4-FFF2-40B4-BE49-F238E27FC236}">
                <a16:creationId xmlns:a16="http://schemas.microsoft.com/office/drawing/2014/main" id="{CC8F2B87-EE36-5D55-DC06-15987504439F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9" name="Image 3">
            <a:extLst>
              <a:ext uri="{FF2B5EF4-FFF2-40B4-BE49-F238E27FC236}">
                <a16:creationId xmlns:a16="http://schemas.microsoft.com/office/drawing/2014/main" id="{44D86125-2F56-B18D-717B-1BCBD316DE6A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8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C3D0-EA85-6B0B-E086-36A76EC76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46627"/>
            <a:ext cx="109728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and metrics (Accuracy, Precision, Sensitivity, Specificity, F1-score) assess the model’s diagnostic ability.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1AD03F65-63A4-696E-B2B9-77867F40460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71D44CD7-E946-7D99-1634-EE03A0C16C5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0"/>
            <a:ext cx="1181100" cy="11104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226113-0F82-5F31-F3FA-40D9478348E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45763" y="3439999"/>
            <a:ext cx="3581400" cy="262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AEBB75-DC51-6ABD-2D93-1DD1AB06BAA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2225" y="3677886"/>
            <a:ext cx="4343400" cy="239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F7FEF-7FB4-F8A2-1B2A-CB67A1263B86}"/>
              </a:ext>
            </a:extLst>
          </p:cNvPr>
          <p:cNvSpPr txBox="1"/>
          <p:nvPr/>
        </p:nvSpPr>
        <p:spPr>
          <a:xfrm>
            <a:off x="2362200" y="615407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(a)Confusion Matrix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0029B-3894-2460-9EEA-6A617C45C6B3}"/>
              </a:ext>
            </a:extLst>
          </p:cNvPr>
          <p:cNvSpPr txBox="1"/>
          <p:nvPr/>
        </p:nvSpPr>
        <p:spPr>
          <a:xfrm>
            <a:off x="7839173" y="615407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(b) ROC-Curve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18C01-E9DE-83BB-BC70-BBD9646C6203}"/>
              </a:ext>
            </a:extLst>
          </p:cNvPr>
          <p:cNvSpPr txBox="1"/>
          <p:nvPr/>
        </p:nvSpPr>
        <p:spPr>
          <a:xfrm>
            <a:off x="4810539" y="266718"/>
            <a:ext cx="28496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91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4D8217-9044-FE68-14A9-71F771251D63}"/>
              </a:ext>
            </a:extLst>
          </p:cNvPr>
          <p:cNvSpPr txBox="1"/>
          <p:nvPr/>
        </p:nvSpPr>
        <p:spPr>
          <a:xfrm>
            <a:off x="2057400" y="600560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Fig.4. Accuracy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33228-7A23-0921-7744-31932E2E1CB8}"/>
              </a:ext>
            </a:extLst>
          </p:cNvPr>
          <p:cNvSpPr txBox="1"/>
          <p:nvPr/>
        </p:nvSpPr>
        <p:spPr>
          <a:xfrm>
            <a:off x="8458200" y="600560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 Loss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A7E0A-A550-6E5F-5241-1BA46B08F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676400"/>
            <a:ext cx="5587594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7DF18B-3DDF-765B-D5F5-9C5064FB1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25" y="1676400"/>
            <a:ext cx="51816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6">
            <a:extLst>
              <a:ext uri="{FF2B5EF4-FFF2-40B4-BE49-F238E27FC236}">
                <a16:creationId xmlns:a16="http://schemas.microsoft.com/office/drawing/2014/main" id="{B76F28D1-253A-0D9A-B20D-ABD73D452104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9" name="Image 3">
            <a:extLst>
              <a:ext uri="{FF2B5EF4-FFF2-40B4-BE49-F238E27FC236}">
                <a16:creationId xmlns:a16="http://schemas.microsoft.com/office/drawing/2014/main" id="{523D566C-FED0-0C05-6C82-10CF01814356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05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7440" y="152400"/>
            <a:ext cx="102870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MODULE 3: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Alzheimer’s Disease Stage Analysis &amp; Report Generation</a:t>
            </a: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10713427" cy="42211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b="1" dirty="0">
                <a:latin typeface="Times New Roman" pitchFamily="18" charset="0"/>
                <a:cs typeface="Times New Roman" pitchFamily="18" charset="0"/>
              </a:rPr>
              <a:t>Module 3 – Overview</a:t>
            </a:r>
          </a:p>
          <a:p>
            <a:pPr marL="0" indent="0">
              <a:buNone/>
            </a:pP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Clinical Decision Support – Risk Assessment &amp; Alerts</a:t>
            </a:r>
            <a:endParaRPr lang="en-IN" sz="11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itchFamily="18" charset="0"/>
                <a:cs typeface="Times New Roman" pitchFamily="18" charset="0"/>
              </a:rPr>
              <a:t>Clinical Decision Support System (CDSS)</a:t>
            </a: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Objective: Assist clinicians in diagnosing Alzheimer’s disease using MRI-based risk analysis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MRI classification outputs are converted into clinical risk scores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Disease staging categories:</a:t>
            </a:r>
          </a:p>
          <a:p>
            <a:pPr lvl="1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Normal</a:t>
            </a:r>
          </a:p>
          <a:p>
            <a:pPr lvl="1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Mild Cognitive Impairment (MCI)</a:t>
            </a:r>
          </a:p>
          <a:p>
            <a:pPr lvl="1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Alzheimer’s Disease</a:t>
            </a:r>
          </a:p>
          <a:p>
            <a:pPr marL="0" indent="0">
              <a:buNone/>
            </a:pPr>
            <a:r>
              <a:rPr lang="en-IN" sz="8000" b="1" dirty="0">
                <a:latin typeface="Times New Roman" pitchFamily="18" charset="0"/>
                <a:cs typeface="Times New Roman" pitchFamily="18" charset="0"/>
              </a:rPr>
              <a:t>Risk Thresholds</a:t>
            </a: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Normal: &lt; 40%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MCI: 40–70%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Alzheimer’s: &gt; 70%</a:t>
            </a:r>
          </a:p>
          <a:p>
            <a:pPr marL="0" indent="0">
              <a:buNone/>
            </a:pPr>
            <a:r>
              <a:rPr lang="en-IN" sz="8000" b="1" dirty="0">
                <a:latin typeface="Times New Roman" pitchFamily="18" charset="0"/>
                <a:cs typeface="Times New Roman" pitchFamily="18" charset="0"/>
              </a:rPr>
              <a:t>Automated Clinical Alerts</a:t>
            </a: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High risk → Immediate neurologist consultation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Moderate risk → Cognitive assessment &amp; follow-up MRI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Low risk → Routine monitoring</a:t>
            </a:r>
          </a:p>
          <a:p>
            <a:pPr marL="0" indent="0">
              <a:buNone/>
            </a:pPr>
            <a:endParaRPr lang="en-IN" sz="8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E1A0C7CA-664D-C73B-7B54-454FDB87D3A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4654" y="0"/>
            <a:ext cx="1157654" cy="1031631"/>
          </a:xfrm>
          <a:prstGeom prst="rect">
            <a:avLst/>
          </a:prstGeom>
        </p:spPr>
      </p:pic>
      <p:pic>
        <p:nvPicPr>
          <p:cNvPr id="5" name="Image 3">
            <a:extLst>
              <a:ext uri="{FF2B5EF4-FFF2-40B4-BE49-F238E27FC236}">
                <a16:creationId xmlns:a16="http://schemas.microsoft.com/office/drawing/2014/main" id="{71D44CD7-E946-7D99-1634-EE03A0C16C5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277600" y="0"/>
            <a:ext cx="92964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00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Patient Report Generation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 automatically creates structured MRI analysis reports.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Report Contents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Includes Patient ID, MRI details, disease stage, risk percentage, and suggested clinical action.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color-coded risk levels and confidence score for easy understanding.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Tool for Clinicians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doctors in decision-making (human-in-the-loop system).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Benefits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early detection, reduces diagnostic time, and improves accuracy.</a:t>
            </a:r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E1A0C7CA-664D-C73B-7B54-454FDB87D3A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71302"/>
            <a:ext cx="1157654" cy="1031631"/>
          </a:xfrm>
          <a:prstGeom prst="rect">
            <a:avLst/>
          </a:prstGeom>
        </p:spPr>
      </p:pic>
      <p:pic>
        <p:nvPicPr>
          <p:cNvPr id="5" name="Image 3">
            <a:extLst>
              <a:ext uri="{FF2B5EF4-FFF2-40B4-BE49-F238E27FC236}">
                <a16:creationId xmlns:a16="http://schemas.microsoft.com/office/drawing/2014/main" id="{71D44CD7-E946-7D99-1634-EE03A0C16C5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82300" y="92467"/>
            <a:ext cx="1181100" cy="11104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C687C5-710C-8CEE-B413-07C784A404C2}"/>
              </a:ext>
            </a:extLst>
          </p:cNvPr>
          <p:cNvSpPr txBox="1"/>
          <p:nvPr/>
        </p:nvSpPr>
        <p:spPr>
          <a:xfrm>
            <a:off x="1704975" y="359023"/>
            <a:ext cx="9601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REPORTING &amp; DECISION SUPPORT 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85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9FF8-7E02-4CCA-278F-7FBEA072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BBAF6-E297-26CF-D622-7C3DE5301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539876"/>
            <a:ext cx="11363324" cy="516572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3D MRI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multimodel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early and accurate detection of Alzheimer’s Disease.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advanced deep learning models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3D CNNs and transformer-based architectures for better classification.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real-time clinical decision support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doctors can upload MRI scans and obtain automated diagnosis.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using large, diverse datasets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from multiple hospitals to improve model reliability and generalization.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5DA4895F-1FFA-7CF6-93D9-51236C4D623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AB3ED2A-70A6-8A1E-3B02-DEA66D17229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5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9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5" y="1828801"/>
            <a:ext cx="10972800" cy="48767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automation of diagnostic procedures is set to enhance the speed of diagnosing AD; a process typically conducted using MRI slices.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involved classification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utilizing traditional features.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findings of this work indicate that the accuracy achieved through DN169 categorization is 92.8%.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09349535-4303-76D4-17F9-13C152806CF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726F4474-97F8-50DB-3D36-88D1B850C6F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491466"/>
            <a:ext cx="11049000" cy="5290334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Acharya, U.R., Fernandes, S.L.,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WeiKoh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J.E., Ciaccio, E.J.,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Fabell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M.K.M.,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U.J., Rajinikanth, V. and Yeong, C.H., 2020. Automated detection of Alzheimer’s disease using brain MRI images–a study with various feature extraction techniques.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medical systems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(9), p.302.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Pallawi, S. and Singh, D.K., 2021. Review and analysis of deep neural network models for Alzheimer's disease classification using brain medical resonance imaging.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Computation and Systems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pp.1-13.</a:t>
            </a: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L., Qiao, H. and Zhu, F., 2022. Alzheimer's Disease diagnosis with brain structural MRI using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-slice attention and 3D convolution neural network.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Aging Neuroscience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p.871706.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Khasawneh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M.A., Alzahrani, A.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Alarood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2023. Alzheimer’s Disease Diagnosis Using MRI Images. In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for Neurodegenerative Disorders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195-212). Singapore: Springer Nature Singapore.</a:t>
            </a:r>
          </a:p>
          <a:p>
            <a:pPr algn="just"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Heenaye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-Mamode Khan, M., Reesaul, P.,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Auzine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M.M. and Taylor, A., 2024. Detection of Alzheimer’s disease using pre-trained deep learning models through transfer learning: a review.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Review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(10), p.275. 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Pusparani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Lin, C.Y., Jan, Y.K., Lin, F.Y., Liau, B.Y., Ardhianto, P.,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Farady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Alex, J.S.R., Aparajeeta, J., Chao, W.H. and Lung, C.W., 2023. Diagnosis of Alzheimer’s disease using convolutional neural network with select slices by landmark on Hippocampus in MRI images.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pp.61688-61697.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Chui, K.T., Gupta, B.B., Alhalabi, W. and Alzahrani, F.S., 2022. An MRI scans-based Alzheimer’s disease detection via convolutional neural network and transfer learning.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(7), p.1531.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Khasawneh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M.A., Alzahrani, A.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Alarood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2023. Alzheimer’s Disease Diagnosis Using MRI Images.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for Neurodegenerative Disorders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(pp. 195-212). Singapore: Springer Nature Singapore.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Şener, B.,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Açıcı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and Sümer, E., 2025. Improving early detection of Alzheimer’s disease through MRI slice selection and deep learning techniques.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p.2926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Inan, M.S.K., Sworna, N.S., Islam, A.M., Islam, S., Alom, Z., Azim, M.A.,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Shatabda,S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and Alzheimer’s Disease Neuroimaging Initiative, 2024. A slice selection guided.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C1CB551F-3D9D-D6EF-9A79-71C0FF6EA0E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9AF59C5B-DD77-03B4-107C-797C625A580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514600"/>
            <a:ext cx="8229600" cy="1143000"/>
          </a:xfrm>
        </p:spPr>
        <p:txBody>
          <a:bodyPr>
            <a:normAutofit/>
          </a:bodyPr>
          <a:lstStyle/>
          <a:p>
            <a:pPr lvl="2" algn="ctr"/>
            <a:r>
              <a:rPr lang="en-GB" sz="5400" dirty="0"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  <a:r>
              <a:rPr lang="en-US" sz="1800" dirty="0"/>
              <a:t> </a:t>
            </a:r>
            <a:endParaRPr lang="en-GB" sz="72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2036</TotalTime>
  <Words>1788</Words>
  <Application>Microsoft Office PowerPoint</Application>
  <PresentationFormat>Widescreen</PresentationFormat>
  <Paragraphs>188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Arial</vt:lpstr>
      <vt:lpstr>Calibri</vt:lpstr>
      <vt:lpstr>Cambria Math</vt:lpstr>
      <vt:lpstr>Times New Roman</vt:lpstr>
      <vt:lpstr>Office Theme</vt:lpstr>
      <vt:lpstr>Examination of Brain MRI Slices  to Detect  Alzheimer's Disease</vt:lpstr>
      <vt:lpstr>INTRODUCTION</vt:lpstr>
      <vt:lpstr>OBJECTIVE</vt:lpstr>
      <vt:lpstr>PROBLEM STATEMENT</vt:lpstr>
      <vt:lpstr>Literature Review</vt:lpstr>
      <vt:lpstr>METHODOLOGY</vt:lpstr>
      <vt:lpstr>Module-1: MRI Slice Preprocessing &amp; Feature Extraction</vt:lpstr>
      <vt:lpstr>PowerPoint Presentation</vt:lpstr>
      <vt:lpstr>PowerPoint Presentation</vt:lpstr>
      <vt:lpstr>Module-2: Alzheimer’s Disease Detection and Classification</vt:lpstr>
      <vt:lpstr>“MATHEMATICAL FRAMEWORK OF CNN”</vt:lpstr>
      <vt:lpstr>PowerPoint Presentation</vt:lpstr>
      <vt:lpstr>PowerPoint Presentation</vt:lpstr>
      <vt:lpstr>MODULE 3:Alzheimer’s Disease Stage Analysis &amp; Report Generation</vt:lpstr>
      <vt:lpstr>PowerPoint Presentation</vt:lpstr>
      <vt:lpstr>Future Scope</vt:lpstr>
      <vt:lpstr>Conclusion</vt:lpstr>
      <vt:lpstr>References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Retinopathy Detection in Retinal OCT Images using Fused Deep Features</dc:title>
  <dc:creator>Admin</dc:creator>
  <cp:lastModifiedBy>Mukund Aripaka</cp:lastModifiedBy>
  <cp:revision>24</cp:revision>
  <dcterms:created xsi:type="dcterms:W3CDTF">2006-08-16T00:00:00Z</dcterms:created>
  <dcterms:modified xsi:type="dcterms:W3CDTF">2026-02-16T04:58:06Z</dcterms:modified>
</cp:coreProperties>
</file>